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2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Posts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Alexandro35</c:v>
                  </c:pt>
                  <c:pt idx="1">
                    <c:v>Josianne.Friesen</c:v>
                  </c:pt>
                  <c:pt idx="2">
                    <c:v>Adelle96</c:v>
                  </c:pt>
                  <c:pt idx="3">
                    <c:v>Donald.Fritsch</c:v>
                  </c:pt>
                  <c:pt idx="4">
                    <c:v>Jaime53</c:v>
                  </c:pt>
                  <c:pt idx="5">
                    <c:v>Aurelie71</c:v>
                  </c:pt>
                  <c:pt idx="6">
                    <c:v>Delfina_VonRueden68</c:v>
                  </c:pt>
                  <c:pt idx="7">
                    <c:v>Cesar93</c:v>
                  </c:pt>
                  <c:pt idx="8">
                    <c:v>Clint27</c:v>
                  </c:pt>
                  <c:pt idx="9">
                    <c:v>Eveline95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Total Posts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Likes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Janet.Armstrong</c:v>
                  </c:pt>
                  <c:pt idx="1">
                    <c:v>Alexandro35</c:v>
                  </c:pt>
                  <c:pt idx="2">
                    <c:v>Zack_Kemmer93</c:v>
                  </c:pt>
                  <c:pt idx="3">
                    <c:v>Donald.Fritsch</c:v>
                  </c:pt>
                  <c:pt idx="4">
                    <c:v>Jaime53</c:v>
                  </c:pt>
                  <c:pt idx="5">
                    <c:v>Aurelie71</c:v>
                  </c:pt>
                  <c:pt idx="6">
                    <c:v>Delfina_VonRueden68</c:v>
                  </c:pt>
                  <c:pt idx="7">
                    <c:v>Cesar93</c:v>
                  </c:pt>
                  <c:pt idx="8">
                    <c:v>Clint27</c:v>
                  </c:pt>
                  <c:pt idx="9">
                    <c:v>Eveline95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178</c:v>
                </c:pt>
                <c:pt idx="1">
                  <c:v>178</c:v>
                </c:pt>
                <c:pt idx="2">
                  <c:v>180</c:v>
                </c:pt>
                <c:pt idx="3">
                  <c:v>215</c:v>
                </c:pt>
                <c:pt idx="4">
                  <c:v>270</c:v>
                </c:pt>
                <c:pt idx="5">
                  <c:v>280</c:v>
                </c:pt>
                <c:pt idx="6">
                  <c:v>285</c:v>
                </c:pt>
                <c:pt idx="7">
                  <c:v>340</c:v>
                </c:pt>
                <c:pt idx="8">
                  <c:v>360</c:v>
                </c:pt>
                <c:pt idx="9">
                  <c:v>420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Janet.Armstrong</c:v>
                  </c:pt>
                  <c:pt idx="1">
                    <c:v>Alexandro35</c:v>
                  </c:pt>
                  <c:pt idx="2">
                    <c:v>Zack_Kemmer93</c:v>
                  </c:pt>
                  <c:pt idx="3">
                    <c:v>Donald.Fritsch</c:v>
                  </c:pt>
                  <c:pt idx="4">
                    <c:v>Jaime53</c:v>
                  </c:pt>
                  <c:pt idx="5">
                    <c:v>Aurelie71</c:v>
                  </c:pt>
                  <c:pt idx="6">
                    <c:v>Delfina_VonRueden68</c:v>
                  </c:pt>
                  <c:pt idx="7">
                    <c:v>Cesar93</c:v>
                  </c:pt>
                  <c:pt idx="8">
                    <c:v>Clint27</c:v>
                  </c:pt>
                  <c:pt idx="9">
                    <c:v>Eveline95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150</c:v>
                </c:pt>
                <c:pt idx="1">
                  <c:v>148</c:v>
                </c:pt>
                <c:pt idx="2">
                  <c:v>150</c:v>
                </c:pt>
                <c:pt idx="3">
                  <c:v>175</c:v>
                </c:pt>
                <c:pt idx="4">
                  <c:v>225</c:v>
                </c:pt>
                <c:pt idx="5">
                  <c:v>240</c:v>
                </c:pt>
                <c:pt idx="6">
                  <c:v>270</c:v>
                </c:pt>
                <c:pt idx="7">
                  <c:v>305</c:v>
                </c:pt>
                <c:pt idx="8">
                  <c:v>300</c:v>
                </c:pt>
                <c:pt idx="9">
                  <c:v>330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Photo Tags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Janet.Armstrong</c:v>
                  </c:pt>
                  <c:pt idx="1">
                    <c:v>Alexandro35</c:v>
                  </c:pt>
                  <c:pt idx="2">
                    <c:v>Zack_Kemmer93</c:v>
                  </c:pt>
                  <c:pt idx="3">
                    <c:v>Donald.Fritsch</c:v>
                  </c:pt>
                  <c:pt idx="4">
                    <c:v>Jaime53</c:v>
                  </c:pt>
                  <c:pt idx="5">
                    <c:v>Aurelie71</c:v>
                  </c:pt>
                  <c:pt idx="6">
                    <c:v>Delfina_VonRueden68</c:v>
                  </c:pt>
                  <c:pt idx="7">
                    <c:v>Cesar93</c:v>
                  </c:pt>
                  <c:pt idx="8">
                    <c:v>Clint27</c:v>
                  </c:pt>
                  <c:pt idx="9">
                    <c:v>Eveline95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</c:v>
                </c:pt>
                <c:pt idx="1">
                  <c:v>8</c:v>
                </c:pt>
                <c:pt idx="2">
                  <c:v>10</c:v>
                </c:pt>
                <c:pt idx="3">
                  <c:v>15</c:v>
                </c:pt>
                <c:pt idx="4">
                  <c:v>12</c:v>
                </c:pt>
                <c:pt idx="5">
                  <c:v>20</c:v>
                </c:pt>
                <c:pt idx="6">
                  <c:v>15</c:v>
                </c:pt>
                <c:pt idx="7">
                  <c:v>15</c:v>
                </c:pt>
                <c:pt idx="8">
                  <c:v>30</c:v>
                </c:pt>
                <c:pt idx="9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Usage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beauty</c:v>
                  </c:pt>
                  <c:pt idx="1">
                    <c:v>happy</c:v>
                  </c:pt>
                  <c:pt idx="2">
                    <c:v>hair</c:v>
                  </c:pt>
                  <c:pt idx="3">
                    <c:v>lol</c:v>
                  </c:pt>
                  <c:pt idx="4">
                    <c:v>food</c:v>
                  </c:pt>
                  <c:pt idx="5">
                    <c:v>concert</c:v>
                  </c:pt>
                  <c:pt idx="6">
                    <c:v>fun</c:v>
                  </c:pt>
                  <c:pt idx="7">
                    <c:v>party</c:v>
                  </c:pt>
                  <c:pt idx="8">
                    <c:v>beach</c:v>
                  </c:pt>
                  <c:pt idx="9">
                    <c:v>smile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  <c:pt idx="4">
                  <c:v>24</c:v>
                </c:pt>
                <c:pt idx="5">
                  <c:v>24</c:v>
                </c:pt>
                <c:pt idx="6">
                  <c:v>38</c:v>
                </c:pt>
                <c:pt idx="7">
                  <c:v>39</c:v>
                </c:pt>
                <c:pt idx="8">
                  <c:v>42</c:v>
                </c:pt>
                <c:pt idx="9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Followers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Clint27</c:v>
                  </c:pt>
                  <c:pt idx="1">
                    <c:v>Mariano_Koch3</c:v>
                  </c:pt>
                  <c:pt idx="2">
                    <c:v>Kenton_Kirlin</c:v>
                  </c:pt>
                  <c:pt idx="3">
                    <c:v>Delfina_VonRueden68</c:v>
                  </c:pt>
                  <c:pt idx="4">
                    <c:v>Eveline95</c:v>
                  </c:pt>
                  <c:pt idx="5">
                    <c:v>Jaime53</c:v>
                  </c:pt>
                  <c:pt idx="6">
                    <c:v>Florence99</c:v>
                  </c:pt>
                  <c:pt idx="7">
                    <c:v>Cesar93</c:v>
                  </c:pt>
                  <c:pt idx="8">
                    <c:v>Aurelie71</c:v>
                  </c:pt>
                  <c:pt idx="9">
                    <c:v>Donald.Fritsch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77</c:v>
                </c:pt>
                <c:pt idx="1">
                  <c:v>77</c:v>
                </c:pt>
                <c:pt idx="2">
                  <c:v>77</c:v>
                </c:pt>
                <c:pt idx="3">
                  <c:v>77</c:v>
                </c:pt>
                <c:pt idx="4">
                  <c:v>77</c:v>
                </c:pt>
                <c:pt idx="5">
                  <c:v>77</c:v>
                </c:pt>
                <c:pt idx="6">
                  <c:v>77</c:v>
                </c:pt>
                <c:pt idx="7">
                  <c:v>77</c:v>
                </c:pt>
                <c:pt idx="8">
                  <c:v>77</c:v>
                </c:pt>
                <c:pt idx="9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Engagement / Post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Clint27</c:v>
                  </c:pt>
                  <c:pt idx="1">
                    <c:v>Mariano_Koch3</c:v>
                  </c:pt>
                  <c:pt idx="2">
                    <c:v>Kenton_Kirlin</c:v>
                  </c:pt>
                  <c:pt idx="3">
                    <c:v>Delfina_VonRueden68</c:v>
                  </c:pt>
                  <c:pt idx="4">
                    <c:v>Eveline95</c:v>
                  </c:pt>
                  <c:pt idx="5">
                    <c:v>Jaime53</c:v>
                  </c:pt>
                  <c:pt idx="6">
                    <c:v>Florence99</c:v>
                  </c:pt>
                  <c:pt idx="7">
                    <c:v>Cesar93</c:v>
                  </c:pt>
                  <c:pt idx="8">
                    <c:v>Aurelie71</c:v>
                  </c:pt>
                  <c:pt idx="9">
                    <c:v>Donald.Fritsch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</c:v>
                </c:pt>
                <c:pt idx="1">
                  <c:v>60</c:v>
                </c:pt>
                <c:pt idx="2">
                  <c:v>61</c:v>
                </c:pt>
                <c:pt idx="3">
                  <c:v>61</c:v>
                </c:pt>
                <c:pt idx="4">
                  <c:v>62</c:v>
                </c:pt>
                <c:pt idx="5">
                  <c:v>62</c:v>
                </c:pt>
                <c:pt idx="6">
                  <c:v>64</c:v>
                </c:pt>
                <c:pt idx="7">
                  <c:v>64</c:v>
                </c:pt>
                <c:pt idx="8">
                  <c:v>65</c:v>
                </c:pt>
                <c:pt idx="9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Followers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Linnea59</c:v>
                  </c:pt>
                  <c:pt idx="1">
                    <c:v>Morgan.Kassulke</c:v>
                  </c:pt>
                  <c:pt idx="2">
                    <c:v>Mariano_Koch3</c:v>
                  </c:pt>
                  <c:pt idx="3">
                    <c:v>Kasandra_Homenick</c:v>
                  </c:pt>
                  <c:pt idx="4">
                    <c:v>David.Osinski47</c:v>
                  </c:pt>
                  <c:pt idx="5">
                    <c:v>Tierra.Trantow</c:v>
                  </c:pt>
                  <c:pt idx="6">
                    <c:v>Pearl7</c:v>
                  </c:pt>
                  <c:pt idx="7">
                    <c:v>Jaime53</c:v>
                  </c:pt>
                  <c:pt idx="8">
                    <c:v>Eveline95</c:v>
                  </c:pt>
                  <c:pt idx="9">
                    <c:v>Kenton_Kirlin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77</c:v>
                </c:pt>
                <c:pt idx="1">
                  <c:v>77</c:v>
                </c:pt>
                <c:pt idx="2">
                  <c:v>77</c:v>
                </c:pt>
                <c:pt idx="3">
                  <c:v>77</c:v>
                </c:pt>
                <c:pt idx="4">
                  <c:v>77</c:v>
                </c:pt>
                <c:pt idx="5">
                  <c:v>77</c:v>
                </c:pt>
                <c:pt idx="6">
                  <c:v>77</c:v>
                </c:pt>
                <c:pt idx="7">
                  <c:v>77</c:v>
                </c:pt>
                <c:pt idx="8">
                  <c:v>77</c:v>
                </c:pt>
                <c:pt idx="9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Followings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Linnea59</c:v>
                  </c:pt>
                  <c:pt idx="1">
                    <c:v>Morgan.Kassulke</c:v>
                  </c:pt>
                  <c:pt idx="2">
                    <c:v>Mariano_Koch3</c:v>
                  </c:pt>
                  <c:pt idx="3">
                    <c:v>Kasandra_Homenick</c:v>
                  </c:pt>
                  <c:pt idx="4">
                    <c:v>David.Osinski47</c:v>
                  </c:pt>
                  <c:pt idx="5">
                    <c:v>Tierra.Trantow</c:v>
                  </c:pt>
                  <c:pt idx="6">
                    <c:v>Pearl7</c:v>
                  </c:pt>
                  <c:pt idx="7">
                    <c:v>Jaime53</c:v>
                  </c:pt>
                  <c:pt idx="8">
                    <c:v>Eveline95</c:v>
                  </c:pt>
                  <c:pt idx="9">
                    <c:v>Kenton_Kirlin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bubble3D val="0"/>
            <c:spPr>
              <a:solidFill>
                <a:srgbClr val="2EC4B6"/>
              </a:solidFill>
              <a:effectLst/>
            </c:spPr>
          </c:dPt>
          <c:dPt>
            <c:idx val="2"/>
            <c:bubble3D val="0"/>
            <c:spPr>
              <a:solidFill>
                <a:srgbClr val="C7CCD6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Active Engager</c:v>
                </c:pt>
                <c:pt idx="1">
                  <c:v>Content Creator</c:v>
                </c:pt>
                <c:pt idx="2">
                  <c:v>Inactive User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25</c:v>
                </c:pt>
                <c:pt idx="2">
                  <c:v>13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ERD" Type="http://schemas.openxmlformats.org/officeDocument/2006/relationships/image" Target="../media/image_erdiagram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6B3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5029200" cy="502920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331720"/>
            <a:ext cx="50292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Media Analytics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Instagram-Style User Data into Business Insight with SQL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Rishabh Singh</a:t>
            </a:r>
            <a:pPr indent="0" marL="0">
              <a:buNone/>
            </a:pPr>
            <a:r>
              <a:rPr lang="en-US" sz="14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24 August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65376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volume: 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platforms generate massive volumes of user interaction data every single 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34056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activity logs alone don't reveal who matters, what content performs, or who's quietly disengaging.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3075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02736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approach: 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to transform raw platform data into clear, structured, query-driven insight.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9943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71416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strategic decisions on retention, marketing, and creator partnerships.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2EC4B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 — Core Entities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1F3F7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67128"/>
            <a:ext cx="320040" cy="3200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130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87752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— unique user identifier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username — chosen handle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 — account activity date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1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4544568" y="2167128"/>
            <a:ext cx="32004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130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587752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— unique photo identifier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image_url — link to posted image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— owner of the photo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 — date posted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1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2167128"/>
            <a:ext cx="320040" cy="3200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2130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4192" y="2587752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— unique comment identifier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photo_id — linked photo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— commenter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 — date commented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2EC4B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 — Relationships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1F3F7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67128"/>
            <a:ext cx="32004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130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87752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— who liked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photo_id — liked photo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 — date liked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1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4544568" y="2167128"/>
            <a:ext cx="320040" cy="3200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130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587752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follower_id — the follower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followee_id — being followed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 — date followed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1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2167128"/>
            <a:ext cx="320040" cy="3200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2130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Tags &amp; Photo Tags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4192" y="2587752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tag_id / tag_name — hashtag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photo_id — tagged photo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tags to individual posts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&amp; Methodology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3911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11096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check: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scanned for duplicate records and missing (null) values before analysis began.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24328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safeguards: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keys on Likes, Follows &amp; Photo Tags plus NOT NULL constraints keep duplication low.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3756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inputs prevent misleading engagement numbers and bad business decisions.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0424160" cy="1737360"/>
          </a:xfrm>
          <a:prstGeom prst="roundRect">
            <a:avLst>
              <a:gd name="adj" fmla="val 4211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USED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  ·   Aggregate Functions   ·   GROUP BY / HAVING   ·   Subqueries   ·   CTEs   ·   Window Functions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2EC4B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Framework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074920" cy="4023360"/>
          </a:xfrm>
          <a:prstGeom prst="roundRect">
            <a:avLst>
              <a:gd name="adj" fmla="val 2273"/>
            </a:avLst>
          </a:prstGeom>
          <a:solidFill>
            <a:srgbClr val="F1F3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109728" cy="4023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Activity Lens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3886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Who is posting, and how often?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users have gone quiet?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does activity map to loyalty?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7880" y="2011680"/>
            <a:ext cx="5074920" cy="4023360"/>
          </a:xfrm>
          <a:prstGeom prst="roundRect">
            <a:avLst>
              <a:gd name="adj" fmla="val 2273"/>
            </a:avLst>
          </a:prstGeom>
          <a:solidFill>
            <a:srgbClr val="F1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5897880" y="2011680"/>
            <a:ext cx="109728" cy="40233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2860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Lens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2880360"/>
            <a:ext cx="3886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content earns likes &amp; comments?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hashtags actually perform?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Who deserves influencer status?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ANALYSIS ·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Activity Analysis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6217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2176272"/>
            <a:ext cx="10972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7360920" y="2048256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creators: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users (Eveline95, Clint27, Cesar93) post far more than the rest.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086600" y="3410712"/>
            <a:ext cx="10972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7360920" y="3282696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signal: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frequency helps Instagram recognise consistently active, loyal users.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86600" y="4645152"/>
            <a:ext cx="10972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9"/>
          <p:cNvSpPr/>
          <p:nvPr/>
        </p:nvSpPr>
        <p:spPr>
          <a:xfrm>
            <a:off x="7360920" y="4517136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far down the list become natural targets for re-engagement campaigns.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2EC4B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ANALYSIS ·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Breakdown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75320" y="217627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8549640" y="2048256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&amp; comments dominate: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tags are used far less than likes or comments.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75320" y="350215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8549640" y="3374136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Standouts: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Eveline95 and Cesar93 lead across every engagement metric at once.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75320" y="482803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8549640" y="4700016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High-performing creators here become the shortlist for collaborations.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ANALYSIS ·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Hashtag Performance Analysis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6217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217627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7360920" y="2048256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hashtag: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#smile leads usage by a wide margin, followed by #beach and #party.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086600" y="341071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7360920" y="3282696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boost: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hashtags improve content discovery and audience interaction.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86600" y="464515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7360920" y="4517136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use: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built around top-performing tags reach larger audiences.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2EC4B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ANALYSIS ·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Influencer &amp; Brand Ambassador Analysis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75320" y="2176272"/>
            <a:ext cx="10972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8549640" y="2048256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picks: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combine a solid follower base with consistently high engagement per post.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75320" y="3502152"/>
            <a:ext cx="10972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8549640" y="3374136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ambassadors: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Loyal, highly-engaged users build trust faster than reach alone.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75320" y="4828032"/>
            <a:ext cx="10972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9"/>
          <p:cNvSpPr/>
          <p:nvPr/>
        </p:nvSpPr>
        <p:spPr>
          <a:xfrm>
            <a:off x="8549640" y="4700016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these creators for collaboration and ambassador programs.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ANALYSIS · NEW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Follower &amp; Following Analysis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74520"/>
          <a:ext cx="6217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2176272"/>
            <a:ext cx="10972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7360920" y="2048256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fame: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most-followed accounts follow almost no one back.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086600" y="3410712"/>
            <a:ext cx="10972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7360920" y="3282696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vs. reciprocity: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count alone doesn't reflect how socially active a user is.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86600" y="4645152"/>
            <a:ext cx="10972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9"/>
          <p:cNvSpPr/>
          <p:nvPr/>
        </p:nvSpPr>
        <p:spPr>
          <a:xfrm>
            <a:off x="7360920" y="4517136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high-reach accounts are prime candidates for paid promotion.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ANALYSIS · NEW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Mutual Connections Analysis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4767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9656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self-join on the Follows table finds pairs where both users follow each other back.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79776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follows signal stronger social bonds than one-directional follows.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6791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39896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pairs power "friend" recommendations and community-building features.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1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MUTUAL PAIRS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2715768"/>
            <a:ext cx="91440" cy="914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Adelle96</a:t>
            </a:r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⇄   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Alek_Watsica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3374136"/>
            <a:ext cx="91440" cy="914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2644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Adelle96</a:t>
            </a:r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⇄   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Bethany20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4032504"/>
            <a:ext cx="91440" cy="914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92277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Adelle96</a:t>
            </a:r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⇄   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Colten.Harris76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4690872"/>
            <a:ext cx="91440" cy="914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58114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Adelle96</a:t>
            </a:r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⇄   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Damon35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5349240"/>
            <a:ext cx="91440" cy="914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52395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Adelle96</a:t>
            </a:r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⇄   </a:t>
            </a:r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2EC4B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ANALYSIS ·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Personalized Marketing &amp; Segmentation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96596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217627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2048256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grouped by activity level — Content Creators, Active Engagers, and Inactive Users.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313639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3008376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group: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Engagers make up the largest share, driving likes and comments platform-wide.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09651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3968496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proxy: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ad data available, hashtag engagement stands in as a campaign-effectiveness signal.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505663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4928616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gets a tailored recommendation strategy rather than one-size-fits-all.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Insights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337560" cy="4023360"/>
          </a:xfrm>
          <a:prstGeom prst="roundRect">
            <a:avLst>
              <a:gd name="adj" fmla="val 2740"/>
            </a:avLst>
          </a:prstGeom>
          <a:solidFill>
            <a:srgbClr val="F1F3F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80/20 Effect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share of users drives the majority of platform engagement.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2011680"/>
            <a:ext cx="3337560" cy="4023360"/>
          </a:xfrm>
          <a:prstGeom prst="roundRect">
            <a:avLst>
              <a:gd name="adj" fmla="val 2740"/>
            </a:avLst>
          </a:prstGeom>
          <a:solidFill>
            <a:srgbClr val="F1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2860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9718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 ≠ Reciprocity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43400" y="361188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most-followed users rarely follow others back.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89520" y="2011680"/>
            <a:ext cx="3337560" cy="4023360"/>
          </a:xfrm>
          <a:prstGeom prst="roundRect">
            <a:avLst>
              <a:gd name="adj" fmla="val 2740"/>
            </a:avLst>
          </a:prstGeom>
          <a:solidFill>
            <a:srgbClr val="F1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228600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29718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Hashtags Matter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863840" y="361188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trending tags concentrate most interaction.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2EC4B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F1F3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6771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5351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25496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active creators through badges &amp; promotional slots.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86791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739896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campaigns around trending, high-engagement hashtags.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97880" y="201168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F1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26771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63640" y="2953512"/>
            <a:ext cx="10972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825496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inactive users with personalised notifications.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867912"/>
            <a:ext cx="109728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739896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metrics to support long-term growth.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828800"/>
            <a:ext cx="4572000" cy="4572000"/>
          </a:xfrm>
          <a:prstGeom prst="ellipse">
            <a:avLst/>
          </a:prstGeom>
          <a:solidFill>
            <a:srgbClr val="FF6B3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Raw Data to Business Strategy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81635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88336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analysed user behaviour, engagement, and content performance across an Instagram-style platform.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8503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57016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transformed raw activity logs into measurable, decision-ready business insight.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553712"/>
            <a:ext cx="109728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425696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— happy to answer any questions on the analysis or techniques used.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FF6B3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20640" y="2743200"/>
            <a:ext cx="64008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718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63040" y="397764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the analysis, the SQL, or the insights — happy to walk through any of 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Rishabh Singh</a:t>
            </a:r>
            <a:pPr algn="ctr" indent="0" marL="0">
              <a:buNone/>
            </a:pPr>
            <a:r>
              <a:rPr lang="en-US" sz="1300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Social Media 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2EC4B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74320"/>
            <a:ext cx="1097280" cy="1097280"/>
          </a:xfrm>
          <a:prstGeom prst="ellipse">
            <a:avLst/>
          </a:prstGeom>
          <a:solidFill>
            <a:srgbClr val="14213D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 (ER Diagram)</a:t>
            </a:r>
            <a:endParaRPr lang="en-US" sz="2800" dirty="0"/>
          </a:p>
        </p:txBody>
      </p:sp>
      <p:pic>
        <p:nvPicPr>
          <p:cNvPr id="20" name="ER Diagram"/>
          <p:cNvPicPr>
            <a:picLocks noChangeAspect="1"/>
          </p:cNvPicPr>
          <p:nvPr/>
        </p:nvPicPr>
        <p:blipFill>
          <a:blip r:embed="rIdERD"/>
          <a:stretch>
            <a:fillRect/>
          </a:stretch>
        </p:blipFill>
        <p:spPr>
          <a:xfrm>
            <a:off x="3200000" y="1965960"/>
            <a:ext cx="5792000" cy="4489905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1153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2026-08-24T21:40:44Z</dcterms:created>
  <dcterms:modified xsi:type="dcterms:W3CDTF">2026-08-24T21:40:44Z</dcterms:modified>
</cp:coreProperties>
</file>